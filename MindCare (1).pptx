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tmp" ContentType="image/jpe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66" r:id="rId4"/>
    <p:sldId id="258" r:id="rId5"/>
    <p:sldId id="259" r:id="rId6"/>
    <p:sldId id="260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</p:sldIdLst>
  <p:sldSz cx="9144000" cy="5143500" type="screen16x9"/>
  <p:notesSz cx="5143500" cy="9144000"/>
  <p:embeddedFontLst>
    <p:embeddedFont>
      <p:font typeface="Source Sans 3" panose="020B0303030403090204"/>
      <p:regular r:id="rId19"/>
    </p:embeddedFont>
    <p:embeddedFont>
      <p:font typeface="Source Serif 4 Semi Bold" panose="02040603050405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presProps" Target="presProp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font" Target="fonts/font2.fntdata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tableStyles" Target="tableStyle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theme" Target="theme/theme1.xml" /><Relationship Id="rId10" Type="http://schemas.openxmlformats.org/officeDocument/2006/relationships/slide" Target="slides/slide9.xml" /><Relationship Id="rId19" Type="http://schemas.openxmlformats.org/officeDocument/2006/relationships/font" Target="fonts/font1.fntdata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viewProps" Target="view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6FB30-60BE-9D4A-96CD-D7C7ED2C4009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BFAF5F-F999-924C-84B8-5DF33E35841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1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 /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Relationship Id="rId4" Type="http://schemas.openxmlformats.org/officeDocument/2006/relationships/image" Target="../media/image2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tmp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3.xml" /><Relationship Id="rId4" Type="http://schemas.openxmlformats.org/officeDocument/2006/relationships/image" Target="../media/image4.tmp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 /><Relationship Id="rId2" Type="http://schemas.openxmlformats.org/officeDocument/2006/relationships/image" Target="../media/image6.tmp" /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4.xml" /><Relationship Id="rId4" Type="http://schemas.openxmlformats.org/officeDocument/2006/relationships/image" Target="../media/image4.tmp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4.tmp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6.xml" /><Relationship Id="rId4" Type="http://schemas.openxmlformats.org/officeDocument/2006/relationships/image" Target="../media/image4.tmp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 /><Relationship Id="rId2" Type="http://schemas.openxmlformats.org/officeDocument/2006/relationships/image" Target="../media/image10.tmp" /><Relationship Id="rId1" Type="http://schemas.openxmlformats.org/officeDocument/2006/relationships/slideLayout" Target="../slideLayouts/slideLayout7.xml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 /><Relationship Id="rId2" Type="http://schemas.openxmlformats.org/officeDocument/2006/relationships/image" Target="../media/image11.tmp" /><Relationship Id="rId1" Type="http://schemas.openxmlformats.org/officeDocument/2006/relationships/slideLayout" Target="../slideLayouts/slideLayout7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 /><Relationship Id="rId2" Type="http://schemas.openxmlformats.org/officeDocument/2006/relationships/image" Target="../media/image12.tmp" /><Relationship Id="rId1" Type="http://schemas.openxmlformats.org/officeDocument/2006/relationships/slideLayout" Target="../slideLayouts/slideLayout7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 /><Relationship Id="rId2" Type="http://schemas.openxmlformats.org/officeDocument/2006/relationships/image" Target="../media/image13.tmp" /><Relationship Id="rId1" Type="http://schemas.openxmlformats.org/officeDocument/2006/relationships/slideLayout" Target="../slideLayouts/slideLayout7.xml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 /><Relationship Id="rId2" Type="http://schemas.openxmlformats.org/officeDocument/2006/relationships/image" Target="../media/image14.tmp" /><Relationship Id="rId1" Type="http://schemas.openxmlformats.org/officeDocument/2006/relationships/slideLayout" Target="../slideLayouts/slideLayout7.xml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 /><Relationship Id="rId2" Type="http://schemas.openxmlformats.org/officeDocument/2006/relationships/image" Target="../media/image4.tmp" /><Relationship Id="rId1" Type="http://schemas.openxmlformats.org/officeDocument/2006/relationships/slideLayout" Target="../slideLayouts/slideLayout7.xml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 /><Relationship Id="rId2" Type="http://schemas.openxmlformats.org/officeDocument/2006/relationships/image" Target="../media/image16.tmp" /><Relationship Id="rId1" Type="http://schemas.openxmlformats.org/officeDocument/2006/relationships/slideLayout" Target="../slideLayouts/slideLayout7.xml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 /><Relationship Id="rId2" Type="http://schemas.openxmlformats.org/officeDocument/2006/relationships/image" Target="../media/image4.tmp" /><Relationship Id="rId1" Type="http://schemas.openxmlformats.org/officeDocument/2006/relationships/slideLayout" Target="../slideLayouts/slideLayout7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 /><Relationship Id="rId2" Type="http://schemas.openxmlformats.org/officeDocument/2006/relationships/image" Target="../media/image4.tmp" /><Relationship Id="rId1" Type="http://schemas.openxmlformats.org/officeDocument/2006/relationships/slideLayout" Target="../slideLayouts/slideLayout7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 /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05389" y="948591"/>
            <a:ext cx="4667845" cy="3651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b="1" dirty="0" err="1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MindCare</a:t>
            </a:r>
            <a:endParaRPr lang="en-US" sz="4800" b="1" dirty="0">
              <a:solidFill>
                <a:srgbClr val="000000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Amasis MT Pro" panose="02040504050005020304" pitchFamily="18" charset="0"/>
              </a:rPr>
              <a:t>Mental Health Support System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Amasis MT Pro" panose="02040504050005020304" pitchFamily="18" charset="0"/>
              </a:rPr>
              <a:t>for Students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400" b="1" dirty="0">
              <a:latin typeface="Amasis MT Pro" panose="02040504050005020304" pitchFamily="18" charset="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2400" b="1" dirty="0">
              <a:latin typeface="Amasis MT Pro" panose="02040504050005020304" pitchFamily="18" charset="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2400" b="1" dirty="0">
              <a:latin typeface="Amasis MT Pro" panose="02040504050005020304" pitchFamily="18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 err="1">
                <a:latin typeface="Amasis MT Pro" panose="02040504050005020304" pitchFamily="18" charset="0"/>
              </a:rPr>
              <a:t>U.G.Harshani</a:t>
            </a:r>
            <a:r>
              <a:rPr lang="en-US" sz="1600" b="1" dirty="0">
                <a:latin typeface="Amasis MT Pro" panose="02040504050005020304" pitchFamily="18" charset="0"/>
              </a:rPr>
              <a:t> </a:t>
            </a:r>
            <a:r>
              <a:rPr lang="en-US" sz="1600" b="1" dirty="0" err="1">
                <a:latin typeface="Amasis MT Pro" panose="02040504050005020304" pitchFamily="18" charset="0"/>
              </a:rPr>
              <a:t>Sandunika</a:t>
            </a:r>
            <a:r>
              <a:rPr lang="en-US" sz="1600" b="1" dirty="0">
                <a:latin typeface="Amasis MT Pro" panose="02040504050005020304" pitchFamily="18" charset="0"/>
              </a:rPr>
              <a:t> </a:t>
            </a:r>
            <a:r>
              <a:rPr lang="en-US" sz="1600" b="1" dirty="0" err="1">
                <a:latin typeface="Amasis MT Pro" panose="02040504050005020304" pitchFamily="18" charset="0"/>
              </a:rPr>
              <a:t>Ranasingha</a:t>
            </a:r>
            <a:endParaRPr lang="en-US" sz="1600" b="1" dirty="0">
              <a:latin typeface="Amasis MT Pro" panose="02040504050005020304" pitchFamily="18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latin typeface="Amasis MT Pro" panose="02040504050005020304" pitchFamily="18" charset="0"/>
              </a:rPr>
              <a:t>2022/ICT/78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2400" b="1" dirty="0">
              <a:latin typeface="Amasis MT Pro" panose="02040504050005020304" pitchFamily="18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2400" b="1" dirty="0">
                <a:latin typeface="Amasis MT Pro" panose="02040504050005020304" pitchFamily="18" charset="0"/>
              </a:rPr>
              <a:t> </a:t>
            </a:r>
          </a:p>
        </p:txBody>
      </p:sp>
      <p:sp>
        <p:nvSpPr>
          <p:cNvPr id="4" name="Text 1"/>
          <p:cNvSpPr/>
          <p:nvPr/>
        </p:nvSpPr>
        <p:spPr>
          <a:xfrm>
            <a:off x="3952577" y="2544812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8D365F-235E-B004-8090-4A221B3BAA8F}"/>
              </a:ext>
            </a:extLst>
          </p:cNvPr>
          <p:cNvSpPr/>
          <p:nvPr/>
        </p:nvSpPr>
        <p:spPr>
          <a:xfrm>
            <a:off x="7315200" y="4194909"/>
            <a:ext cx="1828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 0">
            <a:extLst>
              <a:ext uri="{FF2B5EF4-FFF2-40B4-BE49-F238E27FC236}">
                <a16:creationId xmlns:a16="http://schemas.microsoft.com/office/drawing/2014/main" id="{9C333023-F4A7-5125-D151-521DA9FABBD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1" y="0"/>
            <a:ext cx="3914806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41156" y="525660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00" b="1" dirty="0">
                <a:latin typeface="Amasis MT Pro" panose="02040504050005020304" pitchFamily="18" charset="0"/>
              </a:rPr>
              <a:t>Problem</a:t>
            </a:r>
            <a:r>
              <a:rPr lang="en-US" sz="4000" b="1" dirty="0"/>
              <a:t> Statement</a:t>
            </a:r>
            <a:r>
              <a:rPr lang="en-US" sz="2750" dirty="0"/>
              <a:t> </a:t>
            </a:r>
          </a:p>
        </p:txBody>
      </p:sp>
      <p:sp>
        <p:nvSpPr>
          <p:cNvPr id="6" name="Text 3"/>
          <p:cNvSpPr/>
          <p:nvPr/>
        </p:nvSpPr>
        <p:spPr>
          <a:xfrm>
            <a:off x="4241156" y="1478601"/>
            <a:ext cx="4456628" cy="2626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04000"/>
              </a:lnSpc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</a:rPr>
              <a:t>Students face stress, anxiety</a:t>
            </a:r>
          </a:p>
          <a:p>
            <a:pPr algn="l">
              <a:lnSpc>
                <a:spcPct val="104000"/>
              </a:lnSpc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</a:rPr>
              <a:t>
Many avoid counseling due to stigma</a:t>
            </a:r>
          </a:p>
          <a:p>
            <a:pPr algn="l">
              <a:lnSpc>
                <a:spcPct val="104000"/>
              </a:lnSpc>
            </a:pPr>
            <a:endParaRPr lang="en-US" sz="1600" b="1" dirty="0">
              <a:solidFill>
                <a:srgbClr val="272525"/>
              </a:solidFill>
              <a:latin typeface="Source Serif 4 Semi Bold" pitchFamily="34" charset="0"/>
            </a:endParaRPr>
          </a:p>
          <a:p>
            <a:pPr algn="l">
              <a:lnSpc>
                <a:spcPct val="104000"/>
              </a:lnSpc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</a:rPr>
              <a:t>Limited access to mental health support</a:t>
            </a:r>
          </a:p>
          <a:p>
            <a:pPr algn="l">
              <a:lnSpc>
                <a:spcPct val="104000"/>
              </a:lnSpc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</a:rPr>
              <a:t>
Existing systems lack self-help tools</a:t>
            </a:r>
          </a:p>
          <a:p>
            <a:pPr algn="l">
              <a:lnSpc>
                <a:spcPct val="104000"/>
              </a:lnSpc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</a:rPr>
              <a:t>
Need for secure and private support system</a:t>
            </a:r>
            <a:endParaRPr lang="en-US" sz="1350" dirty="0">
              <a:solidFill>
                <a:srgbClr val="272525"/>
              </a:solidFill>
              <a:latin typeface="Source Serif 4 Semi Bold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178350" y="3885307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</a:t>
            </a:r>
            <a:endParaRPr lang="en-US" sz="135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CCF36A-F992-59C2-E561-D6743A5AA3F5}"/>
              </a:ext>
            </a:extLst>
          </p:cNvPr>
          <p:cNvSpPr/>
          <p:nvPr/>
        </p:nvSpPr>
        <p:spPr>
          <a:xfrm>
            <a:off x="7315200" y="4194909"/>
            <a:ext cx="1828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Image 0">
            <a:extLst>
              <a:ext uri="{FF2B5EF4-FFF2-40B4-BE49-F238E27FC236}">
                <a16:creationId xmlns:a16="http://schemas.microsoft.com/office/drawing/2014/main" id="{64E9AB15-7122-FCCD-E8DF-E210A1CF6E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5421"/>
          <a:stretch>
            <a:fillRect/>
          </a:stretch>
        </p:blipFill>
        <p:spPr>
          <a:xfrm>
            <a:off x="8927600" y="-24531"/>
            <a:ext cx="67572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FBE652-0133-C539-69D6-4E59148EBD21}"/>
              </a:ext>
            </a:extLst>
          </p:cNvPr>
          <p:cNvSpPr txBox="1"/>
          <p:nvPr/>
        </p:nvSpPr>
        <p:spPr>
          <a:xfrm>
            <a:off x="4440146" y="438891"/>
            <a:ext cx="414577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masis MT Pro" panose="02040504050005020304" pitchFamily="18" charset="0"/>
                <a:cs typeface="Aldhabi" panose="01000000000000000000" pitchFamily="2" charset="-78"/>
              </a:rPr>
              <a:t>Reason for Selecting This Project</a:t>
            </a:r>
          </a:p>
          <a:p>
            <a:r>
              <a:rPr lang="en-US" dirty="0"/>
              <a:t> </a:t>
            </a:r>
            <a:endParaRPr lang="en-US" b="1" dirty="0">
              <a:latin typeface="Amasis MT Pro" panose="02040504050005020304" pitchFamily="18" charset="0"/>
            </a:endParaRPr>
          </a:p>
          <a:p>
            <a:r>
              <a:rPr lang="en-US" sz="1600" b="1" dirty="0">
                <a:latin typeface="Amasis MT Pro" panose="02040504050005020304" pitchFamily="18" charset="0"/>
              </a:rPr>
              <a:t>Mental health issues among students are increasing</a:t>
            </a:r>
          </a:p>
          <a:p>
            <a:endParaRPr lang="en-US" sz="1600" b="1" dirty="0">
              <a:latin typeface="Amasis MT Pro" panose="02040504050005020304" pitchFamily="18" charset="0"/>
            </a:endParaRPr>
          </a:p>
          <a:p>
            <a:r>
              <a:rPr lang="en-US" sz="1600" b="1" dirty="0">
                <a:latin typeface="Amasis MT Pro" panose="02040504050005020304" pitchFamily="18" charset="0"/>
              </a:rPr>
              <a:t>To combine psychology with technology</a:t>
            </a:r>
          </a:p>
          <a:p>
            <a:endParaRPr lang="en-US" sz="1600" b="1" dirty="0">
              <a:latin typeface="Amasis MT Pro" panose="02040504050005020304" pitchFamily="18" charset="0"/>
            </a:endParaRPr>
          </a:p>
          <a:p>
            <a:r>
              <a:rPr lang="en-US" sz="1600" b="1" dirty="0">
                <a:latin typeface="Amasis MT Pro" panose="02040504050005020304" pitchFamily="18" charset="0"/>
              </a:rPr>
              <a:t>To provide private and accessible support</a:t>
            </a:r>
          </a:p>
          <a:p>
            <a:endParaRPr lang="en-US" sz="1600" b="1" dirty="0">
              <a:latin typeface="Amasis MT Pro" panose="02040504050005020304" pitchFamily="18" charset="0"/>
            </a:endParaRPr>
          </a:p>
          <a:p>
            <a:r>
              <a:rPr lang="en-US" sz="1600" b="1" dirty="0">
                <a:latin typeface="Amasis MT Pro" panose="02040504050005020304" pitchFamily="18" charset="0"/>
              </a:rPr>
              <a:t>To improve MERN stack development skills</a:t>
            </a:r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BD5AA3F4-C4BA-FEDE-66B3-1CED276396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282" b="3150"/>
          <a:stretch>
            <a:fillRect/>
          </a:stretch>
        </p:blipFill>
        <p:spPr>
          <a:xfrm>
            <a:off x="0" y="0"/>
            <a:ext cx="3875928" cy="510930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18176D1-7313-11A8-E125-322B40EB4E4F}"/>
              </a:ext>
            </a:extLst>
          </p:cNvPr>
          <p:cNvSpPr/>
          <p:nvPr/>
        </p:nvSpPr>
        <p:spPr>
          <a:xfrm>
            <a:off x="7315200" y="4194909"/>
            <a:ext cx="1828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07D200A0-C642-79A1-7016-D6B9E9780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222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0145" y="404766"/>
            <a:ext cx="2710696" cy="1196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Solution: </a:t>
            </a:r>
            <a:r>
              <a:rPr lang="en-US" sz="3600" b="1" dirty="0" err="1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MindCare</a:t>
            </a:r>
            <a:endParaRPr lang="en-US" sz="3600" b="1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-53088"/>
            <a:ext cx="3849502" cy="51965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2305422"/>
            <a:ext cx="259667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6049E1-6E9A-1B36-FCAF-BAE346B5EC5F}"/>
              </a:ext>
            </a:extLst>
          </p:cNvPr>
          <p:cNvSpPr txBox="1"/>
          <p:nvPr/>
        </p:nvSpPr>
        <p:spPr>
          <a:xfrm>
            <a:off x="4440145" y="1391987"/>
            <a:ext cx="442787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Developed a secure mental health support platform
Includes mood tracking, journaling, and mindfulness tools
Securely connects students with counselors
Uses JWT authentication and MongoDB for enhanced security
Provides an easy, user-friendly experience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85711A-AD53-1488-B1F9-9B837D46DA12}"/>
              </a:ext>
            </a:extLst>
          </p:cNvPr>
          <p:cNvSpPr/>
          <p:nvPr/>
        </p:nvSpPr>
        <p:spPr>
          <a:xfrm>
            <a:off x="7365812" y="4415807"/>
            <a:ext cx="1778188" cy="6527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Image 0">
            <a:extLst>
              <a:ext uri="{FF2B5EF4-FFF2-40B4-BE49-F238E27FC236}">
                <a16:creationId xmlns:a16="http://schemas.microsoft.com/office/drawing/2014/main" id="{11C694C3-AA5A-2E53-CCEA-7DFE2459905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688157"/>
            <a:ext cx="4201939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1276871" y="2737098"/>
            <a:ext cx="1820987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4038154" y="2427387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494187" y="3215878"/>
            <a:ext cx="182098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endParaRPr lang="en-US" sz="11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CEDD7E0-6FD7-69B2-56AE-DA5E9DEF6C4D}"/>
              </a:ext>
            </a:extLst>
          </p:cNvPr>
          <p:cNvSpPr/>
          <p:nvPr/>
        </p:nvSpPr>
        <p:spPr>
          <a:xfrm>
            <a:off x="7315200" y="4194909"/>
            <a:ext cx="1828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90E7C28F-1D4E-12CA-B15D-0D3B9E60EC8F}"/>
              </a:ext>
            </a:extLst>
          </p:cNvPr>
          <p:cNvSpPr/>
          <p:nvPr/>
        </p:nvSpPr>
        <p:spPr>
          <a:xfrm>
            <a:off x="4368127" y="421062"/>
            <a:ext cx="3915790" cy="36306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Who Serves </a:t>
            </a:r>
            <a:r>
              <a:rPr lang="en-US" sz="3200" b="1" dirty="0" err="1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MindCare</a:t>
            </a:r>
            <a:endParaRPr lang="en-US" sz="3200" b="1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endParaRPr lang="en-US" sz="1600" b="1" dirty="0">
              <a:solidFill>
                <a:srgbClr val="272525"/>
              </a:solidFill>
              <a:latin typeface="Source Serif 4 Semi Bold" pitchFamily="34" charset="0"/>
              <a:ea typeface="Source Serif 4 Semi Bold" pitchFamily="34" charset="-122"/>
              <a:cs typeface="Source Serif 4 Semi Bold" pitchFamily="34" charset="-12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
 Students facing stress, anxiety,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and academic pressure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
 Professional counselors providing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mental health support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
 Universities and educational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Institutions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
 Individuals seeking emotional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 wellness and self-help tools.</a:t>
            </a:r>
            <a:endParaRPr lang="en-US" sz="1600" b="1" dirty="0"/>
          </a:p>
        </p:txBody>
      </p:sp>
      <p:pic>
        <p:nvPicPr>
          <p:cNvPr id="19" name="Image 0">
            <a:extLst>
              <a:ext uri="{FF2B5EF4-FFF2-40B4-BE49-F238E27FC236}">
                <a16:creationId xmlns:a16="http://schemas.microsoft.com/office/drawing/2014/main" id="{B71C2B47-5B0B-40B1-9545-D180A18492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950"/>
          <a:stretch>
            <a:fillRect/>
          </a:stretch>
        </p:blipFill>
        <p:spPr>
          <a:xfrm>
            <a:off x="0" y="-13683"/>
            <a:ext cx="3494187" cy="5157184"/>
          </a:xfrm>
          <a:prstGeom prst="rect">
            <a:avLst/>
          </a:prstGeom>
        </p:spPr>
      </p:pic>
      <p:pic>
        <p:nvPicPr>
          <p:cNvPr id="21" name="Image 0">
            <a:extLst>
              <a:ext uri="{FF2B5EF4-FFF2-40B4-BE49-F238E27FC236}">
                <a16:creationId xmlns:a16="http://schemas.microsoft.com/office/drawing/2014/main" id="{3DDAF8BA-C779-28E2-1516-EF65B8B6C93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0" y="335893"/>
            <a:ext cx="4001708" cy="63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Foundation of 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Source Serif 4 Semi Bold" pitchFamily="34" charset="0"/>
                <a:ea typeface="Source Serif 4 Semi Bold" pitchFamily="34" charset="-122"/>
                <a:cs typeface="Source Serif 4 Semi Bold" pitchFamily="34" charset="-120"/>
              </a:rPr>
              <a:t>Reliability</a:t>
            </a:r>
            <a:endParaRPr lang="en-US" sz="3200" b="1" dirty="0"/>
          </a:p>
        </p:txBody>
      </p:sp>
      <p:pic>
        <p:nvPicPr>
          <p:cNvPr id="3" name="Image 0"/>
          <p:cNvPicPr>
            <a:picLocks noChangeAspect="1"/>
          </p:cNvPicPr>
          <p:nvPr/>
        </p:nvPicPr>
        <p:blipFill>
          <a:blip r:embed="rId3"/>
          <a:srcRect t="3451" b="12772"/>
          <a:stretch>
            <a:fillRect/>
          </a:stretch>
        </p:blipFill>
        <p:spPr>
          <a:xfrm>
            <a:off x="28828" y="0"/>
            <a:ext cx="3405538" cy="507039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90442" y="1412601"/>
            <a:ext cx="4267192" cy="2733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400" b="1" dirty="0">
              <a:solidFill>
                <a:srgbClr val="272525"/>
              </a:solidFill>
              <a:latin typeface="Source Serif 4 Semi Bold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Source Serif 4 Semi Bold" pitchFamily="34" charset="0"/>
              </a:rPr>
              <a:t>JWT Authentication for secure access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Source Serif 4 Semi Bold" pitchFamily="34" charset="0"/>
              </a:rPr>
              <a:t>
 Role-Based Access Control (RBAC)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400" b="1" dirty="0">
              <a:solidFill>
                <a:srgbClr val="272525"/>
              </a:solidFill>
              <a:latin typeface="Source Serif 4 Semi Bold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Source Serif 4 Semi Bold" pitchFamily="34" charset="0"/>
              </a:rPr>
              <a:t> MongoDB Atlas cloud database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400" b="1" dirty="0">
              <a:solidFill>
                <a:srgbClr val="272525"/>
              </a:solidFill>
              <a:latin typeface="Source Serif 4 Semi Bold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Source Serif 4 Semi Bold" pitchFamily="34" charset="0"/>
              </a:rPr>
              <a:t> Secure RESTful API architecture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400" b="1" dirty="0">
              <a:solidFill>
                <a:srgbClr val="272525"/>
              </a:solidFill>
              <a:latin typeface="Source Serif 4 Semi Bold" pitchFamily="34" charset="0"/>
            </a:endParaRPr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Source Serif 4 Semi Bold" pitchFamily="34" charset="0"/>
              </a:rPr>
              <a:t> Reliable MERN stack technology</a:t>
            </a:r>
            <a:endParaRPr lang="en-US" sz="140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1CAF521-145A-6B31-483C-D2E4289AD6F1}"/>
              </a:ext>
            </a:extLst>
          </p:cNvPr>
          <p:cNvSpPr/>
          <p:nvPr/>
        </p:nvSpPr>
        <p:spPr>
          <a:xfrm>
            <a:off x="7286372" y="4155993"/>
            <a:ext cx="1828800" cy="914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Image 0">
            <a:extLst>
              <a:ext uri="{FF2B5EF4-FFF2-40B4-BE49-F238E27FC236}">
                <a16:creationId xmlns:a16="http://schemas.microsoft.com/office/drawing/2014/main" id="{24DC3BD4-329B-6680-8E9B-7D79C8B1CF7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132F6D6-31DD-B7C6-3360-4870DB8573F2}"/>
              </a:ext>
            </a:extLst>
          </p:cNvPr>
          <p:cNvSpPr/>
          <p:nvPr/>
        </p:nvSpPr>
        <p:spPr>
          <a:xfrm>
            <a:off x="7315200" y="4586288"/>
            <a:ext cx="1828800" cy="5572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FEDF0D-8201-D96B-95C2-628906428897}"/>
              </a:ext>
            </a:extLst>
          </p:cNvPr>
          <p:cNvSpPr txBox="1"/>
          <p:nvPr/>
        </p:nvSpPr>
        <p:spPr>
          <a:xfrm>
            <a:off x="4194834" y="619185"/>
            <a:ext cx="3814599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masis MT Pro" panose="02040504050005020304" pitchFamily="18" charset="0"/>
              </a:rPr>
              <a:t>Feature Spotlight</a:t>
            </a:r>
          </a:p>
          <a:p>
            <a:endParaRPr lang="en-US" dirty="0"/>
          </a:p>
          <a:p>
            <a:r>
              <a:rPr lang="en-US" sz="1400" b="1" dirty="0">
                <a:latin typeface="Amasis MT Pro" panose="02040504050005020304" pitchFamily="18" charset="0"/>
              </a:rPr>
              <a:t>Secure Counselor Request System </a:t>
            </a:r>
          </a:p>
          <a:p>
            <a:r>
              <a:rPr lang="en-US" sz="1400" b="1" dirty="0">
                <a:latin typeface="Amasis MT Pro" panose="02040504050005020304" pitchFamily="18" charset="0"/>
              </a:rPr>
              <a:t>
Separate Student &amp; Counselor Dashboard</a:t>
            </a:r>
          </a:p>
          <a:p>
            <a:r>
              <a:rPr lang="en-US" sz="1400" b="1" dirty="0">
                <a:latin typeface="Amasis MT Pro" panose="02040504050005020304" pitchFamily="18" charset="0"/>
              </a:rPr>
              <a:t>
 Request Status Tracking System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Mood Tracker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Daily Journal (Text &amp; Voice)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Mindfulness Breathing Exercise 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Academic Stress Manager</a:t>
            </a:r>
          </a:p>
          <a:p>
            <a:endParaRPr lang="en-US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D306AAD7-5F39-7857-8C49-3F814C2EFC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472" b="15405"/>
          <a:stretch>
            <a:fillRect/>
          </a:stretch>
        </p:blipFill>
        <p:spPr>
          <a:xfrm>
            <a:off x="0" y="0"/>
            <a:ext cx="3630101" cy="5143500"/>
          </a:xfrm>
          <a:prstGeom prst="rect">
            <a:avLst/>
          </a:prstGeom>
        </p:spPr>
      </p:pic>
      <p:pic>
        <p:nvPicPr>
          <p:cNvPr id="9" name="Image 0">
            <a:extLst>
              <a:ext uri="{FF2B5EF4-FFF2-40B4-BE49-F238E27FC236}">
                <a16:creationId xmlns:a16="http://schemas.microsoft.com/office/drawing/2014/main" id="{45BC1A52-567F-EBEA-E86E-65237D84EE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6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>
            <a:extLst>
              <a:ext uri="{FF2B5EF4-FFF2-40B4-BE49-F238E27FC236}">
                <a16:creationId xmlns:a16="http://schemas.microsoft.com/office/drawing/2014/main" id="{8B2E9B65-18D9-F9C3-8CF8-854633F845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5141"/>
          <a:stretch>
            <a:fillRect/>
          </a:stretch>
        </p:blipFill>
        <p:spPr>
          <a:xfrm>
            <a:off x="0" y="0"/>
            <a:ext cx="3630101" cy="51435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5FCA4F1-A167-DCF5-F842-938569C55128}"/>
              </a:ext>
            </a:extLst>
          </p:cNvPr>
          <p:cNvSpPr/>
          <p:nvPr/>
        </p:nvSpPr>
        <p:spPr>
          <a:xfrm>
            <a:off x="7315200" y="4586288"/>
            <a:ext cx="1828800" cy="523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73EB6974-EC5E-A661-A9DC-2BE3302D3C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8081C53-692B-CB5D-E8A5-1AE229054474}"/>
              </a:ext>
            </a:extLst>
          </p:cNvPr>
          <p:cNvSpPr txBox="1"/>
          <p:nvPr/>
        </p:nvSpPr>
        <p:spPr>
          <a:xfrm>
            <a:off x="3983765" y="705098"/>
            <a:ext cx="4540823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3200" b="1" dirty="0">
                <a:latin typeface="Amasis MT Pro" panose="02040504050005020304" pitchFamily="18" charset="0"/>
              </a:rPr>
              <a:t>Technical Workflow — Backend </a:t>
            </a:r>
          </a:p>
          <a:p>
            <a:endParaRPr lang="en-US" dirty="0"/>
          </a:p>
          <a:p>
            <a:r>
              <a:rPr lang="en-US" sz="1400" b="1" dirty="0"/>
              <a:t>Client sends API request to </a:t>
            </a:r>
            <a:r>
              <a:rPr lang="en-US" sz="1400" b="1" dirty="0" err="1"/>
              <a:t>Express.js</a:t>
            </a:r>
            <a:r>
              <a:rPr lang="en-US" sz="1400" b="1" dirty="0"/>
              <a:t> serve</a:t>
            </a:r>
          </a:p>
          <a:p>
            <a:endParaRPr lang="en-US" sz="1400" b="1" dirty="0"/>
          </a:p>
          <a:p>
            <a:r>
              <a:rPr lang="en-US" sz="1400" b="1" dirty="0"/>
              <a:t>Routes handle incoming request</a:t>
            </a:r>
          </a:p>
          <a:p>
            <a:endParaRPr lang="en-US" sz="1400" b="1" dirty="0"/>
          </a:p>
          <a:p>
            <a:r>
              <a:rPr lang="en-US" sz="1400" b="1" dirty="0"/>
              <a:t>Middleware verifies JWT authentication</a:t>
            </a:r>
          </a:p>
          <a:p>
            <a:endParaRPr lang="en-US" sz="1400" b="1" dirty="0"/>
          </a:p>
          <a:p>
            <a:r>
              <a:rPr lang="en-US" sz="1400" b="1" dirty="0"/>
              <a:t>RBAC checks user role permission </a:t>
            </a:r>
          </a:p>
          <a:p>
            <a:endParaRPr lang="en-US" sz="1400" b="1" dirty="0"/>
          </a:p>
          <a:p>
            <a:r>
              <a:rPr lang="en-US" sz="1400" b="1" dirty="0"/>
              <a:t>Controllers process business logic</a:t>
            </a:r>
          </a:p>
          <a:p>
            <a:endParaRPr lang="en-US" sz="1400" b="1" dirty="0"/>
          </a:p>
          <a:p>
            <a:r>
              <a:rPr lang="en-US" sz="1400" b="1" dirty="0"/>
              <a:t>Mongoose models interact with database</a:t>
            </a:r>
          </a:p>
          <a:p>
            <a:endParaRPr lang="en-US" sz="1400" b="1" dirty="0"/>
          </a:p>
          <a:p>
            <a:r>
              <a:rPr lang="en-US" sz="1400" b="1" dirty="0"/>
              <a:t> Server returns JSON response to frontend</a:t>
            </a:r>
          </a:p>
        </p:txBody>
      </p:sp>
    </p:spTree>
    <p:extLst>
      <p:ext uri="{BB962C8B-B14F-4D97-AF65-F5344CB8AC3E}">
        <p14:creationId xmlns:p14="http://schemas.microsoft.com/office/powerpoint/2010/main" val="76067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E147E36-46CB-AB02-21BB-CAF4A0776D5B}"/>
              </a:ext>
            </a:extLst>
          </p:cNvPr>
          <p:cNvSpPr/>
          <p:nvPr/>
        </p:nvSpPr>
        <p:spPr>
          <a:xfrm>
            <a:off x="7315200" y="4586288"/>
            <a:ext cx="1828800" cy="55721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BA729590-D95E-B4B2-BABA-B61948A01E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523" t="754" r="1545" b="7688"/>
          <a:stretch>
            <a:fillRect/>
          </a:stretch>
        </p:blipFill>
        <p:spPr>
          <a:xfrm>
            <a:off x="0" y="-6220"/>
            <a:ext cx="3607996" cy="5149719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741CAFAA-D8BC-9F24-38A9-9C5F20A2AA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051668A-07D8-3036-D174-F634D905A9A0}"/>
              </a:ext>
            </a:extLst>
          </p:cNvPr>
          <p:cNvSpPr txBox="1"/>
          <p:nvPr/>
        </p:nvSpPr>
        <p:spPr>
          <a:xfrm>
            <a:off x="3961786" y="254849"/>
            <a:ext cx="453827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masis MT Pro" panose="02040504050005020304" pitchFamily="18" charset="0"/>
              </a:rPr>
              <a:t>Technical Workflow </a:t>
            </a:r>
          </a:p>
          <a:p>
            <a:r>
              <a:rPr lang="en-US" sz="3200" b="1" dirty="0">
                <a:latin typeface="Amasis MT Pro" panose="02040504050005020304" pitchFamily="18" charset="0"/>
              </a:rPr>
              <a:t>— Frontend</a:t>
            </a:r>
          </a:p>
          <a:p>
            <a:endParaRPr lang="en-US" dirty="0"/>
          </a:p>
          <a:p>
            <a:r>
              <a:rPr lang="en-US" sz="1400" b="1" dirty="0">
                <a:latin typeface="Amasis MT Pro" panose="02040504050005020304" pitchFamily="18" charset="0"/>
              </a:rPr>
              <a:t>User interacts with </a:t>
            </a:r>
            <a:r>
              <a:rPr lang="en-US" sz="1400" b="1" dirty="0" err="1">
                <a:latin typeface="Amasis MT Pro" panose="02040504050005020304" pitchFamily="18" charset="0"/>
              </a:rPr>
              <a:t>React.js</a:t>
            </a:r>
            <a:r>
              <a:rPr lang="en-US" sz="1400" b="1" dirty="0">
                <a:latin typeface="Amasis MT Pro" panose="02040504050005020304" pitchFamily="18" charset="0"/>
              </a:rPr>
              <a:t> interface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React Router manages page </a:t>
            </a:r>
            <a:r>
              <a:rPr lang="en-US" sz="1400" b="1" dirty="0" err="1">
                <a:latin typeface="Amasis MT Pro" panose="02040504050005020304" pitchFamily="18" charset="0"/>
              </a:rPr>
              <a:t>navigatio</a:t>
            </a:r>
            <a:r>
              <a:rPr lang="en-US" sz="1400" b="1" dirty="0">
                <a:latin typeface="Amasis MT Pro" panose="02040504050005020304" pitchFamily="18" charset="0"/>
              </a:rPr>
              <a:t> 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Context API manages authentication state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</a:t>
            </a:r>
            <a:r>
              <a:rPr lang="en-US" sz="1400" b="1" dirty="0" err="1">
                <a:latin typeface="Amasis MT Pro" panose="02040504050005020304" pitchFamily="18" charset="0"/>
              </a:rPr>
              <a:t>Axios</a:t>
            </a:r>
            <a:r>
              <a:rPr lang="en-US" sz="1400" b="1" dirty="0">
                <a:latin typeface="Amasis MT Pro" panose="02040504050005020304" pitchFamily="18" charset="0"/>
              </a:rPr>
              <a:t> sends API requests to backend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JWT token attached through interceptor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UI updates dynamically based on response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Protected routes restrict unauthorized access</a:t>
            </a:r>
          </a:p>
        </p:txBody>
      </p:sp>
    </p:spTree>
    <p:extLst>
      <p:ext uri="{BB962C8B-B14F-4D97-AF65-F5344CB8AC3E}">
        <p14:creationId xmlns:p14="http://schemas.microsoft.com/office/powerpoint/2010/main" val="258669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7E0AD1-B835-22A9-3B42-F5AFB3AC3300}"/>
              </a:ext>
            </a:extLst>
          </p:cNvPr>
          <p:cNvSpPr/>
          <p:nvPr/>
        </p:nvSpPr>
        <p:spPr>
          <a:xfrm>
            <a:off x="7315200" y="4586288"/>
            <a:ext cx="1828800" cy="523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49D5D42E-1685-CB66-FB38-4125834107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70" b="2770"/>
          <a:stretch>
            <a:fillRect/>
          </a:stretch>
        </p:blipFill>
        <p:spPr>
          <a:xfrm>
            <a:off x="-85859" y="1"/>
            <a:ext cx="3630101" cy="5143500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464FCBF4-297B-1A28-010B-AFAB8F0E43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A19BB0F-8C3D-06CF-55D3-FF2654FADD5D}"/>
              </a:ext>
            </a:extLst>
          </p:cNvPr>
          <p:cNvSpPr txBox="1"/>
          <p:nvPr/>
        </p:nvSpPr>
        <p:spPr>
          <a:xfrm>
            <a:off x="3741005" y="183811"/>
            <a:ext cx="484490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en-US" sz="3200" b="1">
                <a:latin typeface="Amasis MT Pro" panose="02040504050005020304" pitchFamily="18" charset="0"/>
              </a:rPr>
              <a:t>Technical Workflow</a:t>
            </a:r>
          </a:p>
          <a:p>
            <a:r>
              <a:rPr lang="en-US" sz="3200" b="1">
                <a:latin typeface="Amasis MT Pro" panose="02040504050005020304" pitchFamily="18" charset="0"/>
              </a:rPr>
              <a:t> </a:t>
            </a:r>
            <a:r>
              <a:rPr lang="en-US" sz="3200" b="1" dirty="0">
                <a:latin typeface="Amasis MT Pro" panose="02040504050005020304" pitchFamily="18" charset="0"/>
              </a:rPr>
              <a:t>— Database </a:t>
            </a:r>
          </a:p>
          <a:p>
            <a:endParaRPr lang="en-US" dirty="0"/>
          </a:p>
          <a:p>
            <a:r>
              <a:rPr lang="en-US" sz="1400" b="1" dirty="0">
                <a:latin typeface="Amasis MT Pro" panose="02040504050005020304" pitchFamily="18" charset="0"/>
              </a:rPr>
              <a:t>MongoDB Atlas stores application data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Mongoose defines schemas and models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User, Counselor, and Request collections created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CRUD operations manage records securely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Relationships handled using </a:t>
            </a:r>
            <a:r>
              <a:rPr lang="en-US" sz="1400" b="1" dirty="0" err="1">
                <a:latin typeface="Amasis MT Pro" panose="02040504050005020304" pitchFamily="18" charset="0"/>
              </a:rPr>
              <a:t>ObjectId</a:t>
            </a:r>
            <a:r>
              <a:rPr lang="en-US" sz="1400" b="1" dirty="0">
                <a:latin typeface="Amasis MT Pro" panose="02040504050005020304" pitchFamily="18" charset="0"/>
              </a:rPr>
              <a:t> references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 Passwords stored in hashed format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Database synchronizes with backend API requests</a:t>
            </a:r>
          </a:p>
        </p:txBody>
      </p:sp>
    </p:spTree>
    <p:extLst>
      <p:ext uri="{BB962C8B-B14F-4D97-AF65-F5344CB8AC3E}">
        <p14:creationId xmlns:p14="http://schemas.microsoft.com/office/powerpoint/2010/main" val="1459047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710AC3-D8E7-D84F-3081-98D87E3F1250}"/>
              </a:ext>
            </a:extLst>
          </p:cNvPr>
          <p:cNvSpPr/>
          <p:nvPr/>
        </p:nvSpPr>
        <p:spPr>
          <a:xfrm>
            <a:off x="7315200" y="4586288"/>
            <a:ext cx="1828800" cy="523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Image 0">
            <a:extLst>
              <a:ext uri="{FF2B5EF4-FFF2-40B4-BE49-F238E27FC236}">
                <a16:creationId xmlns:a16="http://schemas.microsoft.com/office/drawing/2014/main" id="{F2C01207-3006-AAF8-1FA3-5497AC0380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399" b="2770"/>
          <a:stretch>
            <a:fillRect/>
          </a:stretch>
        </p:blipFill>
        <p:spPr>
          <a:xfrm>
            <a:off x="-85859" y="34191"/>
            <a:ext cx="3630100" cy="5109309"/>
          </a:xfrm>
          <a:prstGeom prst="rect">
            <a:avLst/>
          </a:prstGeom>
        </p:spPr>
      </p:pic>
      <p:pic>
        <p:nvPicPr>
          <p:cNvPr id="11" name="Image 0">
            <a:extLst>
              <a:ext uri="{FF2B5EF4-FFF2-40B4-BE49-F238E27FC236}">
                <a16:creationId xmlns:a16="http://schemas.microsoft.com/office/drawing/2014/main" id="{5DE49FAE-012A-5D7B-18C0-F1661EB37FE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4DADC0B-E840-2C2B-2F41-FCEB8523E38D}"/>
              </a:ext>
            </a:extLst>
          </p:cNvPr>
          <p:cNvSpPr txBox="1"/>
          <p:nvPr/>
        </p:nvSpPr>
        <p:spPr>
          <a:xfrm>
            <a:off x="3791470" y="34191"/>
            <a:ext cx="5102487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masis MT Pro" panose="02040504050005020304" pitchFamily="18" charset="0"/>
              </a:rPr>
              <a:t>Future Improvements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latin typeface="Amasis MT Pro" panose="02040504050005020304" pitchFamily="18" charset="0"/>
              </a:rPr>
              <a:t>AI based emotional analysis of journals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Real-time chat with counselors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Video counseling sessions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Mobile application for Android and iOS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Crisis detection and alert system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Counselor analytics dashboard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Multi-language support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Cloud deployment using Docker and Kubernetes</a:t>
            </a:r>
          </a:p>
        </p:txBody>
      </p:sp>
    </p:spTree>
    <p:extLst>
      <p:ext uri="{BB962C8B-B14F-4D97-AF65-F5344CB8AC3E}">
        <p14:creationId xmlns:p14="http://schemas.microsoft.com/office/powerpoint/2010/main" val="3378277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C672EB-33E6-B368-5A14-527AA1339547}"/>
              </a:ext>
            </a:extLst>
          </p:cNvPr>
          <p:cNvSpPr/>
          <p:nvPr/>
        </p:nvSpPr>
        <p:spPr>
          <a:xfrm>
            <a:off x="7315200" y="4586288"/>
            <a:ext cx="1828800" cy="523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04F6C30B-8ED8-ECB3-9051-9B04536C78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C424F3BD-80A4-58F6-FC8F-7935E9B8F2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70" b="2770"/>
          <a:stretch>
            <a:fillRect/>
          </a:stretch>
        </p:blipFill>
        <p:spPr>
          <a:xfrm>
            <a:off x="-245312" y="-1"/>
            <a:ext cx="3479999" cy="514350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7092A86-DC4B-F49E-C5A9-6FC9D34B8C34}"/>
              </a:ext>
            </a:extLst>
          </p:cNvPr>
          <p:cNvSpPr txBox="1"/>
          <p:nvPr/>
        </p:nvSpPr>
        <p:spPr>
          <a:xfrm>
            <a:off x="3753272" y="417031"/>
            <a:ext cx="4955298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masis MT Pro" panose="02040504050005020304" pitchFamily="18" charset="0"/>
              </a:rPr>
              <a:t>Advantages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>
                <a:latin typeface="Amasis MT Pro" panose="02040504050005020304" pitchFamily="18" charset="0"/>
              </a:rPr>
              <a:t>Strong security using JWT, </a:t>
            </a:r>
            <a:r>
              <a:rPr lang="en-US" sz="1400" b="1" dirty="0" err="1">
                <a:latin typeface="Amasis MT Pro" panose="02040504050005020304" pitchFamily="18" charset="0"/>
              </a:rPr>
              <a:t>bcrypt</a:t>
            </a:r>
            <a:r>
              <a:rPr lang="en-US" sz="1400" b="1" dirty="0">
                <a:latin typeface="Amasis MT Pro" panose="02040504050005020304" pitchFamily="18" charset="0"/>
              </a:rPr>
              <a:t>, and RBAC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Supports mental health awareness among students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Direct connection between students and counselors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Mood tracking and journaling features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User-friendly interface</a:t>
            </a:r>
          </a:p>
          <a:p>
            <a:endParaRPr lang="en-US" sz="1400" b="1" dirty="0">
              <a:latin typeface="Amasis MT Pro" panose="02040504050005020304" pitchFamily="18" charset="0"/>
            </a:endParaRPr>
          </a:p>
          <a:p>
            <a:r>
              <a:rPr lang="en-US" sz="1400" b="1" dirty="0">
                <a:latin typeface="Amasis MT Pro" panose="02040504050005020304" pitchFamily="18" charset="0"/>
              </a:rPr>
              <a:t>Scalable MERN stack architecture</a:t>
            </a:r>
          </a:p>
        </p:txBody>
      </p:sp>
    </p:spTree>
    <p:extLst>
      <p:ext uri="{BB962C8B-B14F-4D97-AF65-F5344CB8AC3E}">
        <p14:creationId xmlns:p14="http://schemas.microsoft.com/office/powerpoint/2010/main" val="626931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72252D-6184-1833-A6AA-D870D15B228E}"/>
              </a:ext>
            </a:extLst>
          </p:cNvPr>
          <p:cNvSpPr/>
          <p:nvPr/>
        </p:nvSpPr>
        <p:spPr>
          <a:xfrm>
            <a:off x="7315200" y="4586288"/>
            <a:ext cx="1828800" cy="523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 0">
            <a:extLst>
              <a:ext uri="{FF2B5EF4-FFF2-40B4-BE49-F238E27FC236}">
                <a16:creationId xmlns:a16="http://schemas.microsoft.com/office/drawing/2014/main" id="{C2D3CAF8-CC13-7E88-929D-FADA487B79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45312" y="-38250"/>
            <a:ext cx="3479999" cy="5219998"/>
          </a:xfrm>
          <a:prstGeom prst="rect">
            <a:avLst/>
          </a:prstGeom>
        </p:spPr>
      </p:pic>
      <p:pic>
        <p:nvPicPr>
          <p:cNvPr id="9" name="Image 0">
            <a:extLst>
              <a:ext uri="{FF2B5EF4-FFF2-40B4-BE49-F238E27FC236}">
                <a16:creationId xmlns:a16="http://schemas.microsoft.com/office/drawing/2014/main" id="{5617931F-C9EC-DA82-FD0C-52F16E0F39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71F578-9B02-A07B-A850-93C75B26C389}"/>
              </a:ext>
            </a:extLst>
          </p:cNvPr>
          <p:cNvSpPr txBox="1"/>
          <p:nvPr/>
        </p:nvSpPr>
        <p:spPr>
          <a:xfrm>
            <a:off x="3976279" y="404766"/>
            <a:ext cx="4082216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masis MT Pro" panose="02040504050005020304" pitchFamily="18" charset="0"/>
              </a:rPr>
              <a:t>Disadvantages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latin typeface="Amasis MT Pro" panose="02040504050005020304" pitchFamily="18" charset="0"/>
              </a:rPr>
              <a:t>Stable internet connection</a:t>
            </a:r>
          </a:p>
          <a:p>
            <a:endParaRPr lang="en-US" b="1" dirty="0">
              <a:latin typeface="Amasis MT Pro" panose="02040504050005020304" pitchFamily="18" charset="0"/>
            </a:endParaRPr>
          </a:p>
          <a:p>
            <a:r>
              <a:rPr lang="en-US" b="1" dirty="0">
                <a:latin typeface="Amasis MT Pro" panose="02040504050005020304" pitchFamily="18" charset="0"/>
              </a:rPr>
              <a:t>Limited scalability in current backend structure</a:t>
            </a:r>
          </a:p>
          <a:p>
            <a:endParaRPr lang="en-US" b="1" dirty="0">
              <a:latin typeface="Amasis MT Pro" panose="02040504050005020304" pitchFamily="18" charset="0"/>
            </a:endParaRPr>
          </a:p>
          <a:p>
            <a:r>
              <a:rPr lang="en-US" b="1" dirty="0">
                <a:latin typeface="Amasis MT Pro" panose="02040504050005020304" pitchFamily="18" charset="0"/>
              </a:rPr>
              <a:t>No offline functionality</a:t>
            </a:r>
          </a:p>
          <a:p>
            <a:endParaRPr lang="en-US" b="1" dirty="0">
              <a:latin typeface="Amasis MT Pro" panose="02040504050005020304" pitchFamily="18" charset="0"/>
            </a:endParaRPr>
          </a:p>
          <a:p>
            <a:r>
              <a:rPr lang="en-US" b="1" dirty="0">
                <a:latin typeface="Amasis MT Pro" panose="02040504050005020304" pitchFamily="18" charset="0"/>
              </a:rPr>
              <a:t>No AI integration in current version</a:t>
            </a:r>
          </a:p>
          <a:p>
            <a:endParaRPr lang="en-US" b="1" dirty="0">
              <a:latin typeface="Amasis MT Pro" panose="02040504050005020304" pitchFamily="18" charset="0"/>
            </a:endParaRPr>
          </a:p>
          <a:p>
            <a:r>
              <a:rPr lang="en-US" b="1" dirty="0">
                <a:latin typeface="Amasis MT Pro" panose="02040504050005020304" pitchFamily="18" charset="0"/>
              </a:rPr>
              <a:t>Possible security risks in token storage</a:t>
            </a:r>
          </a:p>
        </p:txBody>
      </p:sp>
    </p:spTree>
    <p:extLst>
      <p:ext uri="{BB962C8B-B14F-4D97-AF65-F5344CB8AC3E}">
        <p14:creationId xmlns:p14="http://schemas.microsoft.com/office/powerpoint/2010/main" val="35225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E4D098C-2715-E673-72A7-66A298C6DA0D}"/>
              </a:ext>
            </a:extLst>
          </p:cNvPr>
          <p:cNvSpPr/>
          <p:nvPr/>
        </p:nvSpPr>
        <p:spPr>
          <a:xfrm>
            <a:off x="7315200" y="4586288"/>
            <a:ext cx="1828800" cy="523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25016F0A-6A46-3AFE-B47E-1DD180F038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E5E20ADF-0578-43E0-F7FD-A2174B6353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563" y="-38250"/>
            <a:ext cx="3383272" cy="52199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57A32F-3A07-0DF2-24A3-87F9D0885BD6}"/>
              </a:ext>
            </a:extLst>
          </p:cNvPr>
          <p:cNvSpPr txBox="1"/>
          <p:nvPr/>
        </p:nvSpPr>
        <p:spPr>
          <a:xfrm>
            <a:off x="3704209" y="171718"/>
            <a:ext cx="4314422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Amasis MT Pro" panose="02040504050005020304" pitchFamily="18" charset="0"/>
              </a:rPr>
              <a:t>Threats and Limitations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/>
              <a:t>Risk of unauthorized access attempts</a:t>
            </a:r>
          </a:p>
          <a:p>
            <a:endParaRPr lang="en-US" sz="1400" b="1" dirty="0"/>
          </a:p>
          <a:p>
            <a:r>
              <a:rPr lang="en-US" sz="1400" b="1" dirty="0"/>
              <a:t>Possibility of injection attacks if inputs are not validated</a:t>
            </a:r>
          </a:p>
          <a:p>
            <a:endParaRPr lang="en-US" sz="1400" b="1" dirty="0"/>
          </a:p>
          <a:p>
            <a:r>
              <a:rPr lang="en-US" sz="1400" b="1" dirty="0"/>
              <a:t>Sensitive mental health data privacy concerns</a:t>
            </a:r>
          </a:p>
          <a:p>
            <a:endParaRPr lang="en-US" sz="1400" b="1" dirty="0"/>
          </a:p>
          <a:p>
            <a:r>
              <a:rPr lang="en-US" sz="1400" b="1" dirty="0" err="1"/>
              <a:t>Node.js</a:t>
            </a:r>
            <a:r>
              <a:rPr lang="en-US" sz="1400" b="1" dirty="0"/>
              <a:t> single-thread performance limitation</a:t>
            </a:r>
          </a:p>
          <a:p>
            <a:r>
              <a:rPr lang="en-US" sz="1400" b="1" dirty="0"/>
              <a:t>Database scalability challenges under heavy load</a:t>
            </a:r>
          </a:p>
          <a:p>
            <a:endParaRPr lang="en-US" sz="1400" b="1" dirty="0"/>
          </a:p>
          <a:p>
            <a:r>
              <a:rPr lang="en-US" sz="1400" b="1" dirty="0"/>
              <a:t>No mobile application available</a:t>
            </a:r>
          </a:p>
        </p:txBody>
      </p:sp>
    </p:spTree>
    <p:extLst>
      <p:ext uri="{BB962C8B-B14F-4D97-AF65-F5344CB8AC3E}">
        <p14:creationId xmlns:p14="http://schemas.microsoft.com/office/powerpoint/2010/main" val="312533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A864FA7-30F2-243D-06B1-E6F2796127AF}"/>
              </a:ext>
            </a:extLst>
          </p:cNvPr>
          <p:cNvSpPr/>
          <p:nvPr/>
        </p:nvSpPr>
        <p:spPr>
          <a:xfrm>
            <a:off x="7315200" y="4586288"/>
            <a:ext cx="1828800" cy="523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59C4A837-B35E-A003-5CEA-7896090D1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1C4F8E10-D2A5-7FA5-08FB-A6FCE2C12D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163" t="3948" b="4091"/>
          <a:stretch>
            <a:fillRect/>
          </a:stretch>
        </p:blipFill>
        <p:spPr>
          <a:xfrm>
            <a:off x="0" y="0"/>
            <a:ext cx="3735153" cy="5143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2D66FB8-48B7-C081-93B4-673EEF64463E}"/>
              </a:ext>
            </a:extLst>
          </p:cNvPr>
          <p:cNvSpPr txBox="1"/>
          <p:nvPr/>
        </p:nvSpPr>
        <p:spPr>
          <a:xfrm>
            <a:off x="3952279" y="367967"/>
            <a:ext cx="4609105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/>
              <a:t>Impact of the System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400" b="1" dirty="0"/>
              <a:t>Helps students manage academic stress effectively</a:t>
            </a:r>
          </a:p>
          <a:p>
            <a:endParaRPr lang="en-US" sz="1400" b="1" dirty="0"/>
          </a:p>
          <a:p>
            <a:r>
              <a:rPr lang="en-US" sz="1400" b="1" dirty="0"/>
              <a:t>Improves emotional awareness and mental well-being</a:t>
            </a:r>
          </a:p>
          <a:p>
            <a:endParaRPr lang="en-US" sz="1400" b="1" dirty="0"/>
          </a:p>
          <a:p>
            <a:r>
              <a:rPr lang="en-US" sz="1400" b="1" dirty="0"/>
              <a:t>Supports university counseling services</a:t>
            </a:r>
          </a:p>
          <a:p>
            <a:endParaRPr lang="en-US" sz="1400" b="1" dirty="0"/>
          </a:p>
          <a:p>
            <a:r>
              <a:rPr lang="en-US" sz="1400" b="1" dirty="0"/>
              <a:t>Helps counselors manage student cases efficiently</a:t>
            </a:r>
          </a:p>
          <a:p>
            <a:endParaRPr lang="en-US" sz="1400" b="1" dirty="0"/>
          </a:p>
          <a:p>
            <a:r>
              <a:rPr lang="en-US" sz="1400" b="1" dirty="0"/>
              <a:t>Promotes mental health awareness in society</a:t>
            </a:r>
          </a:p>
          <a:p>
            <a:endParaRPr lang="en-US" sz="1400" b="1" dirty="0"/>
          </a:p>
          <a:p>
            <a:r>
              <a:rPr lang="en-US" sz="1400" b="1" dirty="0"/>
              <a:t>Encourages early intervention for mental health issues</a:t>
            </a:r>
          </a:p>
        </p:txBody>
      </p:sp>
    </p:spTree>
    <p:extLst>
      <p:ext uri="{BB962C8B-B14F-4D97-AF65-F5344CB8AC3E}">
        <p14:creationId xmlns:p14="http://schemas.microsoft.com/office/powerpoint/2010/main" val="1902236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DD58C1A-1DB2-067C-55FF-8210D8618180}"/>
              </a:ext>
            </a:extLst>
          </p:cNvPr>
          <p:cNvSpPr/>
          <p:nvPr/>
        </p:nvSpPr>
        <p:spPr>
          <a:xfrm>
            <a:off x="7315200" y="4586288"/>
            <a:ext cx="1828800" cy="52302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Image 0">
            <a:extLst>
              <a:ext uri="{FF2B5EF4-FFF2-40B4-BE49-F238E27FC236}">
                <a16:creationId xmlns:a16="http://schemas.microsoft.com/office/drawing/2014/main" id="{F1EB34BB-5475-A6AD-52A6-130571350B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8893957" y="-34191"/>
            <a:ext cx="2749176" cy="5143500"/>
          </a:xfrm>
          <a:prstGeom prst="rect">
            <a:avLst/>
          </a:prstGeom>
        </p:spPr>
      </p:pic>
      <p:pic>
        <p:nvPicPr>
          <p:cNvPr id="7" name="Image 0">
            <a:extLst>
              <a:ext uri="{FF2B5EF4-FFF2-40B4-BE49-F238E27FC236}">
                <a16:creationId xmlns:a16="http://schemas.microsoft.com/office/drawing/2014/main" id="{088F393C-94FA-208C-0B26-2DE595F225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99655" y="-38250"/>
            <a:ext cx="2790064" cy="52199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B39CB05-4592-C20B-42BB-5324CE73F668}"/>
              </a:ext>
            </a:extLst>
          </p:cNvPr>
          <p:cNvSpPr txBox="1"/>
          <p:nvPr/>
        </p:nvSpPr>
        <p:spPr>
          <a:xfrm>
            <a:off x="4279516" y="1514732"/>
            <a:ext cx="3320909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latin typeface="Amasis MT Pro" panose="020405040500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90195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sanduni ranasingha</cp:lastModifiedBy>
  <cp:revision>8</cp:revision>
  <dcterms:created xsi:type="dcterms:W3CDTF">2026-05-17T06:51:55Z</dcterms:created>
  <dcterms:modified xsi:type="dcterms:W3CDTF">2026-05-17T10:15:13Z</dcterms:modified>
</cp:coreProperties>
</file>